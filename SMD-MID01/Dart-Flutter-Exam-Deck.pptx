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Parts 1-3 follow the course notes; part 4 is recall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371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development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7830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&amp; Flutter — From Zero to Exam-Ready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4747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basics → Flutter widgets → responsive layout. Every slide is one examinable idea.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4434840"/>
            <a:ext cx="6766560" cy="1554480"/>
          </a:xfrm>
          <a:prstGeom prst="roundRect">
            <a:avLst>
              <a:gd name="adj" fmla="val 3529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5720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study(part01_dartBasics);   </a:t>
            </a:r>
            <a:pPr indent="0" marL="0">
              <a:buNone/>
            </a:pPr>
            <a:r>
              <a:rPr lang="en-US" sz="11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language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study(part02_flutterCore);  </a:t>
            </a:r>
            <a:pPr indent="0" marL="0">
              <a:buNone/>
            </a:pPr>
            <a:r>
              <a:rPr lang="en-US" sz="11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widgets &amp; 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study(part03_layout);       </a:t>
            </a:r>
            <a:pPr indent="0" marL="0">
              <a:buNone/>
            </a:pPr>
            <a:r>
              <a:rPr lang="en-US" sz="11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responsive UI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study(part04_recall);       </a:t>
            </a:r>
            <a:pPr indent="0" marL="0">
              <a:buNone/>
            </a:pPr>
            <a:r>
              <a:rPr lang="en-US" sz="11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rapid-fire drills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778240" y="1737360"/>
            <a:ext cx="2834640" cy="2834640"/>
          </a:xfrm>
          <a:prstGeom prst="roundRect">
            <a:avLst>
              <a:gd name="adj" fmla="val 3871"/>
            </a:avLst>
          </a:prstGeom>
          <a:solidFill>
            <a:srgbClr val="132440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0" y="2286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· 4 parts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parts, one exam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4358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forward once for understanding, then use the recall drills at the end until answers come without thinking.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93624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76504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412496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 · Dart Basics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5960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control flow, functions, OOP, exceptions, async, isolates.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6026" y="2293624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8906" y="2476504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10074" y="2412496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 · Flutter Fundamentals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08906" y="2695960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Widgets, state, project files, hot reload, core widgets, lists, tabs.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3413" y="2293624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6293" y="2476504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87461" y="2412496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 · Layout &amp; Responsive UI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86293" y="2695960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MediaQuery, LayoutBuilder, constraints, Expanded, FittedBox, orientation.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315263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498143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" y="3434135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 · Recall drills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717599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questions, comparison tables, traps and a one-page cheat sheet.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408225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536241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marks are usually won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questions are either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term for X?”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one do I use, A or B?”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comparison tables and the recall drills target exactly those two shapes.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463040"/>
            <a:ext cx="237744" cy="3108960"/>
          </a:xfrm>
          <a:prstGeom prst="roundRect">
            <a:avLst>
              <a:gd name="adj" fmla="val 23077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463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Basics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behind Flutter. Learn it first — everything in Flutter is written in Dart.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1463040"/>
            <a:ext cx="443484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part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29968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Dart is and where it came from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vs AOT compilation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types, null safety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conditions, loops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and parameters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Maps, Classes, OOP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Exceptions, Future and Isolates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Dart?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53559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36439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87243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55895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classes, objects and methods like other OOP languages.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6026" y="1753559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8906" y="1936439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0074" y="187243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&amp; scalable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08906" y="2155895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many built-in libraries, from small scripts to large apps.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3413" y="1753559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6293" y="1936439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87461" y="187243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 typed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86293" y="2155895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explicit types, let Dart infer them with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use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</a:t>
            </a:r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775198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958078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" y="2894070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Single-threaded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177534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 runs your code. async/await and Isolates handle waiting and heavy work.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68160"/>
            <a:ext cx="11094415" cy="992759"/>
          </a:xfrm>
          <a:prstGeom prst="roundRect">
            <a:avLst>
              <a:gd name="adj" fmla="val 7369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14464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build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288784"/>
            <a:ext cx="10728655" cy="44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Web, servers, and mobile apps (with Flutter). Dart compiles to both JavaScript and native machine code.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098663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226679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is made by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typed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those four words answer most “describe Dart” questions.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Dart came from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487452"/>
            <a:ext cx="2595296" cy="1020318"/>
          </a:xfrm>
          <a:prstGeom prst="roundRect">
            <a:avLst>
              <a:gd name="adj" fmla="val 717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597180"/>
            <a:ext cx="226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10, 2011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853212"/>
            <a:ext cx="2266112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Unveiled by Google at the GOTO conference in Aarhus, Denmark.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1680" y="2487452"/>
            <a:ext cx="2595296" cy="1020318"/>
          </a:xfrm>
          <a:prstGeom prst="roundRect">
            <a:avLst>
              <a:gd name="adj" fmla="val 717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6272" y="2597180"/>
            <a:ext cx="226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46272" y="2853212"/>
            <a:ext cx="2266112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Lars Bak &amp; Kasper Lund — the developers behind V8, Chrome's JavaScript engine.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4720" y="2487452"/>
            <a:ext cx="2595296" cy="1020318"/>
          </a:xfrm>
          <a:prstGeom prst="roundRect">
            <a:avLst>
              <a:gd name="adj" fmla="val 717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9312" y="2597180"/>
            <a:ext cx="226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14, 2013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379312" y="2853212"/>
            <a:ext cx="2266112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1.0, the first stable version, is released.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7759" y="2487452"/>
            <a:ext cx="2595296" cy="1020318"/>
          </a:xfrm>
          <a:prstGeom prst="roundRect">
            <a:avLst>
              <a:gd name="adj" fmla="val 717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12351" y="2597180"/>
            <a:ext cx="226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14, 2025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9212351" y="2853212"/>
            <a:ext cx="2266112" cy="54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3.9, the latest version listed in the course notes.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45514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873530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 two dates 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unveiled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version 1.0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asked for the creators, say Lars Bak and Kasper Lund of V8.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Dart runs: JIT vs AOT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22073"/>
            <a:ext cx="5428336" cy="1849628"/>
          </a:xfrm>
          <a:prstGeom prst="roundRect">
            <a:avLst>
              <a:gd name="adj" fmla="val 395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68377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 — Just-In-Time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42697"/>
            <a:ext cx="5062576" cy="130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code at runtime, while the app runs.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development.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fast iteration.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while you are coding and debugging.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4720" y="2222073"/>
            <a:ext cx="5428336" cy="1849628"/>
          </a:xfrm>
          <a:prstGeom prst="roundRect">
            <a:avLst>
              <a:gd name="adj" fmla="val 395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368377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AOT — Ahead-Of-Time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97600" y="2642697"/>
            <a:ext cx="5062576" cy="1300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to native machine code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deployment.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production (release builds).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startup and better performance.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your users install.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09445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437461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 works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JIT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Release builds are compiled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Development = JIT, release = native speed.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to write and run Dart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11938"/>
            <a:ext cx="2595296" cy="1234948"/>
          </a:xfrm>
          <a:prstGeom prst="roundRect">
            <a:avLst>
              <a:gd name="adj" fmla="val 592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94818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330810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DartPad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14274"/>
            <a:ext cx="2229536" cy="70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playground for practising syntax with no installation. Core libraries only — no VM libraries such as dart:io.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1680" y="2211938"/>
            <a:ext cx="2595296" cy="1234948"/>
          </a:xfrm>
          <a:prstGeom prst="roundRect">
            <a:avLst>
              <a:gd name="adj" fmla="val 592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4560" y="2394818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5728" y="2330810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IDEs / editors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4560" y="2614274"/>
            <a:ext cx="2229536" cy="70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Visual Studio Code, IntelliJ IDEA.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13306"/>
            <a:ext cx="2595296" cy="1234948"/>
          </a:xfrm>
          <a:prstGeom prst="roundRect">
            <a:avLst>
              <a:gd name="adj" fmla="val 592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796186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3732178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Command-line tools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015642"/>
            <a:ext cx="2229536" cy="70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format, analyze, test, document, compile and run Dart code, and manage packages with pub.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4720" y="2211938"/>
            <a:ext cx="5428336" cy="1898904"/>
          </a:xfrm>
          <a:prstGeom prst="roundRect">
            <a:avLst>
              <a:gd name="adj" fmla="val 2889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2266802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DART CLI COMMANDS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61024" y="2486258"/>
            <a:ext cx="5135728" cy="153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create my_app          # new project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                   # run main()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format .               # tidy the code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analyze                # find warnings/errors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test                   # run unit tests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doc                    # generate documentation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pub get                # fetch packages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compile exe bin/main.dart   # AOT -&gt; native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Dart program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33991"/>
            <a:ext cx="5428336" cy="1032129"/>
          </a:xfrm>
          <a:prstGeom prst="roundRect">
            <a:avLst>
              <a:gd name="adj" fmla="val 5316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8885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HELLO.DART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08311"/>
            <a:ext cx="5135728" cy="66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print('Hello, Dart!');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033991"/>
            <a:ext cx="5428336" cy="2231009"/>
          </a:xfrm>
          <a:prstGeom prst="roundRect">
            <a:avLst>
              <a:gd name="adj" fmla="val 3279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180295"/>
            <a:ext cx="5062576" cy="1956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entry point. Every Dart program starts by running the top-level main() function.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main returns nothing. If you omit the return type, void is the default.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Writes a line of text to the console.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and { }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Statements end with a semicolon; blocks are wrapped in braces.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02744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630760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that starts every Dart/Flutter program is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Run it with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run hello.dart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paste it into DartPad and press Run.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idea: everything is an object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33991"/>
            <a:ext cx="5428336" cy="2437384"/>
          </a:xfrm>
          <a:prstGeom prst="roundRect">
            <a:avLst>
              <a:gd name="adj" fmla="val 3001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80295"/>
            <a:ext cx="5062576" cy="216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an object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Numbers, booleans, functions and even null are objects.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is an instance of a class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every class inherits from Object, directly or indirectly.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/ private / protected keywords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name starting with </a:t>
            </a:r>
            <a:pPr indent="0" marL="0">
              <a:buNone/>
            </a:pPr>
            <a:r>
              <a:rPr lang="en-US" sz="11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private to its library (its file).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vs errors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Dart tools report both. Errors stop your code from running; warnings flag suspicious code.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4720" y="2033991"/>
            <a:ext cx="5428336" cy="1552194"/>
          </a:xfrm>
          <a:prstGeom prst="roundRect">
            <a:avLst>
              <a:gd name="adj" fmla="val 3535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61024" y="208885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ROOT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361024" y="2308311"/>
            <a:ext cx="5135728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int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numbers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String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bool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/ false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Function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yes, functions too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Null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 null is an object of class Null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19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837135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in Dart is per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library/file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marked by a leading underscore — there is no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keyword.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var, final, const &amp;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36811"/>
            <a:ext cx="5428336" cy="1898904"/>
          </a:xfrm>
          <a:prstGeom prst="roundRect">
            <a:avLst>
              <a:gd name="adj" fmla="val 2889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19167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VARIABLES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411131"/>
            <a:ext cx="5135728" cy="153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name = 'Ali';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 inferred: String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course = 'Flutter';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explicit type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21;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gpa = 3.9;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year = 2026;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set once, at runtime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3.14159;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compile-time constant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x = 10;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 type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'now a String';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allowed with dynamic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136811"/>
            <a:ext cx="5428336" cy="2116074"/>
          </a:xfrm>
          <a:prstGeom prst="roundRect">
            <a:avLst>
              <a:gd name="adj" fmla="val 3457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283115"/>
            <a:ext cx="5062576" cy="184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Dart infers the type from the value.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type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String, int, double, bool…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Assigned once; the value can be known at runtime.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Assigned once; the value must be known at compile time.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type can change. Avoid it when you can.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90629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618645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infer the type ·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set once at runtime ·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compile-time constant.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vs const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2511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104934"/>
                <a:gridCol w="41049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is the value set?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Once, at runtime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compile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it be reassigned?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value known before running?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of a calculation, DateTime.now()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numbers, strings, widgets like const Text(...)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60556"/>
            <a:ext cx="11094415" cy="1378839"/>
          </a:xfrm>
          <a:prstGeom prst="roundRect">
            <a:avLst>
              <a:gd name="adj" fmla="val 3979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3815420"/>
            <a:ext cx="10801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4034876"/>
            <a:ext cx="10801807" cy="1013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now = DateTime.now();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year = 2026;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t = DateTime.now();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not known at compile time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5377139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505155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Flutter you will see const everywhere 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Text('Hello')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Icon(Icons.home)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created once at compile time and reused, which helps performance because Flutter can skip rebuilding them.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data 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7320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0200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266192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49656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(whole) and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(decimal).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5; double b = 2.5;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6026" y="2147320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8906" y="2330200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0074" y="2266192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08906" y="2549656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single or double quotes.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 = 'Dart';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3413" y="2147320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6293" y="2330200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87461" y="2266192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86293" y="2549656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false.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ok = true;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168959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51839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" y="328783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571295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 of objects.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 = [1, 2, 3];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26026" y="3168959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8906" y="3351839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0074" y="328783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08906" y="3571295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 → values.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m = {'a': 1};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3413" y="3168959"/>
            <a:ext cx="3539642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6293" y="3351839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87461" y="328783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86293" y="3571295"/>
            <a:ext cx="3173882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can change (optionally typed).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d = 1;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261921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389937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both subtypes of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a question asks for “a whole number type”, the answer is int; “decimal” is double.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 &amp; null-aware operators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66615"/>
            <a:ext cx="5428336" cy="1552194"/>
          </a:xfrm>
          <a:prstGeom prst="roundRect">
            <a:avLst>
              <a:gd name="adj" fmla="val 3535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321479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NULL-AWARE TOOLS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540935"/>
            <a:ext cx="5135728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nickname;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? = may be null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print(nickname ?? 'No nickname');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if null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print(nickname?.length);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safe call -&gt; null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nickname ??= 'Guest';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assign only if null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print(nickname!.length);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! = "trust me, not null"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4720" y="2266615"/>
          <a:ext cx="5428336" cy="914400"/>
        </p:xfrm>
        <a:graphic>
          <a:graphicData uri="http://schemas.openxmlformats.org/drawingml/2006/table">
            <a:tbl>
              <a:tblPr/>
              <a:tblGrid>
                <a:gridCol w="1845634"/>
                <a:gridCol w="35827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default if the left side is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a member only if the object is not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only if the variable is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 the value is not 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214795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4342811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provides a default value;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safely calls a method or property. A type written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never hold null.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93001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104934"/>
                <a:gridCol w="41049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  -   *   /   %   ~/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B3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 ~/ 2 → 3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(integer division)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   !=   &gt;   &lt;   &gt;=   &lt;=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B3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&gt;= 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&amp;&amp;   ||   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B3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isLogged &amp;&amp; !isBanned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  +=   -=   *=   /=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B3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+= 5;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Null-aware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   ?.   ??=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B3A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?? 'Guest'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77350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505366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knowing 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divides and returns an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Increment with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i++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decrement with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i--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always returns a double, even for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2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decisions: if &amp; switch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95358"/>
            <a:ext cx="5428336" cy="2072259"/>
          </a:xfrm>
          <a:prstGeom prst="roundRect">
            <a:avLst>
              <a:gd name="adj" fmla="val 264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150222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69678"/>
            <a:ext cx="5135728" cy="170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 = 72;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(marks &gt;= 80)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print('A');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(marks &gt;= 60)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print('B');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print('Try again');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095358"/>
            <a:ext cx="5428336" cy="2245614"/>
          </a:xfrm>
          <a:prstGeom prst="roundRect">
            <a:avLst>
              <a:gd name="adj" fmla="val 2443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61024" y="2150222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COMPARE ONE VALUE TO MANY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361024" y="2369678"/>
            <a:ext cx="5135728" cy="187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day = 'Sat';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'Sat':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'Sun':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print('Weekend');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print('Weekday');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578716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706732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a block based on a condition.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compares one variable against multiple fixed values.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3463"/>
          <a:ext cx="5428336" cy="914400"/>
        </p:xfrm>
        <a:graphic>
          <a:graphicData uri="http://schemas.openxmlformats.org/drawingml/2006/table">
            <a:tbl>
              <a:tblPr/>
              <a:tblGrid>
                <a:gridCol w="1845634"/>
                <a:gridCol w="35827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 number of times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the condition stays true (may run 0 times)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do-while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once, then while the condition is 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for-in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element of a collection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14720" y="1873463"/>
            <a:ext cx="5428336" cy="2939034"/>
          </a:xfrm>
          <a:prstGeom prst="roundRect">
            <a:avLst>
              <a:gd name="adj" fmla="val 1867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61024" y="1928327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LOOPS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361024" y="2147783"/>
            <a:ext cx="5135728" cy="2573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(var i = 0; i &lt; 3; i++)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print(i);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1 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 = 3;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&gt; 0) { n--;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print('runs once');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(false);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(final f in ['apple', 'mango'])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print(f);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5050241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178257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guaranteed to run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once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do-while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the condition is tested after the body.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interpolation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17252"/>
            <a:ext cx="5428336" cy="1552194"/>
          </a:xfrm>
          <a:prstGeom prst="roundRect">
            <a:avLst>
              <a:gd name="adj" fmla="val 3535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372116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VALUES IN STRINGS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591572"/>
            <a:ext cx="5135728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name = 'Sara';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age = 20;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print('My name is $name');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print('Next year I am ${age + 1}');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print('Length: ${name.length}');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317252"/>
            <a:ext cx="5428336" cy="1520444"/>
          </a:xfrm>
          <a:prstGeom prst="roundRect">
            <a:avLst>
              <a:gd name="adj" fmla="val 4811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463556"/>
            <a:ext cx="5062576" cy="1246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$variable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a simple variable name.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${expression}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anything more complex: maths, method calls, property access.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My name is Sara / Next year I am 21 / Length: 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07190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235206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Dart feature that embeds a variable or expression inside a string using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called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interpolation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59595"/>
            <a:ext cx="5428336" cy="3112389"/>
          </a:xfrm>
          <a:prstGeom prst="roundRect">
            <a:avLst>
              <a:gd name="adj" fmla="val 1763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114459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&amp; CALLING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33915"/>
            <a:ext cx="5135728" cy="274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{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return type + params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square(int x) =&gt; x * x;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arrow: one expression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greet(String name)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print('Hi $name');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void = returns nothing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print(add(2, 3));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print(square(4));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greet('Ali');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059595"/>
            <a:ext cx="5428336" cy="1818259"/>
          </a:xfrm>
          <a:prstGeom prst="roundRect">
            <a:avLst>
              <a:gd name="adj" fmla="val 402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205899"/>
            <a:ext cx="5062576" cy="154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Comes first: int, void, String…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 parentheses, each with a type.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Shorthand for a function whose body is one expression.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objects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can store them in variables and pass them around — this is how callbacks like onPressed work.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&amp; constructor parameters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79895"/>
          <a:ext cx="11094415" cy="914400"/>
        </p:xfrm>
        <a:graphic>
          <a:graphicData uri="http://schemas.openxmlformats.org/drawingml/2006/table">
            <a:tbl>
              <a:tblPr/>
              <a:tblGrid>
                <a:gridCol w="3772101"/>
                <a:gridCol w="7322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always be provided, in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Positional: written in [ square brackets 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listed before optional 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Named: written in { curly braces }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have a default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have a default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91906"/>
            <a:ext cx="11094415" cy="1725549"/>
          </a:xfrm>
          <a:prstGeom prst="roundRect">
            <a:avLst>
              <a:gd name="adj" fmla="val 3180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3346770"/>
            <a:ext cx="10801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STYLES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3566226"/>
            <a:ext cx="10801807" cy="135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a(String x, [int y = 1]) {}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y: optional positional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b(String x, {int y = 1}) {}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y: optional named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c({required String name, int age = 18}) {}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required named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a('hi');   a('hi', 5);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b('hi');   b('hi', y: 5);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c(name: 'Sara');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 uses its default 18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5255199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383215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arguments are passed with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call site — that is why almost every Flutter widget constructor uses them.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50136"/>
          <a:ext cx="11094415" cy="914400"/>
        </p:xfrm>
        <a:graphic>
          <a:graphicData uri="http://schemas.openxmlformats.org/drawingml/2006/table">
            <a:tbl>
              <a:tblPr/>
              <a:tblGrid>
                <a:gridCol w="3772101"/>
                <a:gridCol w="7322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Fixed-length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Growable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cannot change once created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can grow or shrink dynamically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789809"/>
            <a:ext cx="5428336" cy="2072259"/>
          </a:xfrm>
          <a:prstGeom prst="roundRect">
            <a:avLst>
              <a:gd name="adj" fmla="val 264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2844673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BASICS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3064129"/>
            <a:ext cx="5135728" cy="170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fixed = List&lt;int&gt;.filled(3, 0);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[0, 0, 0]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fixed[0] = 12;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ok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fixed.add(4);  &lt;- ERROR, cannot grow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nums = [1, 2, 3];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growable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nums.add(4); 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3, 4]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nums.remove(2);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3, 4]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print(nums.length);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doubled = nums.map((n) =&gt; n * 2).toList();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4720" y="2789809"/>
            <a:ext cx="5428336" cy="1478661"/>
          </a:xfrm>
          <a:prstGeom prst="roundRect">
            <a:avLst>
              <a:gd name="adj" fmla="val 4947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7600" y="2936113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know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97600" y="3210433"/>
            <a:ext cx="5062576" cy="93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collection; the index starts at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notes show </a:t>
            </a:r>
            <a:pPr indent="0" marL="0">
              <a:buNone/>
            </a:pPr>
            <a:r>
              <a:rPr lang="en-US" sz="11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List(3)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syntax was removed with null safety — use </a:t>
            </a:r>
            <a:pPr indent="0" marL="0">
              <a:buNone/>
            </a:pPr>
            <a:r>
              <a:rPr lang="en-US" sz="11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List.filled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 literal instead.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99812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5227828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“Ordered collection, duplicates allowed, index from 0” =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“Unique keys → values” =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39884"/>
            <a:ext cx="5428336" cy="1520444"/>
          </a:xfrm>
          <a:prstGeom prst="roundRect">
            <a:avLst>
              <a:gd name="adj" fmla="val 4811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86188"/>
            <a:ext cx="5062576" cy="1246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collection of key-value pairs.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unique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Values can be duplicated.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create one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Map literal, or the Map constructor.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4720" y="2039884"/>
            <a:ext cx="5428336" cy="2418969"/>
          </a:xfrm>
          <a:prstGeom prst="roundRect">
            <a:avLst>
              <a:gd name="adj" fmla="val 226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61024" y="2094748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BASICS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361024" y="2314204"/>
            <a:ext cx="5135728" cy="205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Map literal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person = {'name': 'Ali', 'age': 22};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Map constructor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p2 = Map&lt;String, String&gt;();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p2['name'] = 'Sara';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person['city'] = 'Lahore';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 / update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print(person['name']);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Ali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print(person.containsKey('age'));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person.forEach((k, v) =&gt; print('$k: $v'));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696597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824613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ahead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is exactly the shape JSON has, which is why Maps appear in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fromJson()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toJson()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later in the course.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&amp; objects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84411"/>
            <a:ext cx="5428336" cy="2592324"/>
          </a:xfrm>
          <a:prstGeom prst="roundRect">
            <a:avLst>
              <a:gd name="adj" fmla="val 2116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3927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AND ITS OBJECT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58731"/>
            <a:ext cx="5135728" cy="2226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brand;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Car(this.brand);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constructor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honk() =&gt; print('$brand says beep!');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car1 = Car('Toyota');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= instance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print(car1.brand);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Toyota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car1.honk();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1984411"/>
            <a:ext cx="5428336" cy="1933194"/>
          </a:xfrm>
          <a:prstGeom prst="roundRect">
            <a:avLst>
              <a:gd name="adj" fmla="val 378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130715"/>
            <a:ext cx="5062576" cy="165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blueprint. Defines properties (fields) and behaviours (methods).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instance of a class: data + behaviour, created directly from the class.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this.brand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Shorthand that assigns the argument straight to the field.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14479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942495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support the three OOP principles: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encapsulation, inheritance and polymorphism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18371"/>
            <a:ext cx="5428336" cy="2592324"/>
          </a:xfrm>
          <a:prstGeom prst="roundRect">
            <a:avLst>
              <a:gd name="adj" fmla="val 2116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97323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192691"/>
            <a:ext cx="5135728" cy="2226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int id;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name;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User({required this.id, required this.name});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User.guest() : id = 0, name = 'Guest';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factory User.fromJson(Map&lt;String, dynamic&gt; j) {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User(id: j['id'], name: j['name']);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1918371"/>
            <a:ext cx="5428336" cy="1726819"/>
          </a:xfrm>
          <a:prstGeom prst="roundRect">
            <a:avLst>
              <a:gd name="adj" fmla="val 4236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064675"/>
            <a:ext cx="5062576" cy="1452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Default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Runs automatically when you create an object; </a:t>
            </a:r>
            <a:pPr indent="0" marL="0">
              <a:buNone/>
            </a:pPr>
            <a:r>
              <a:rPr lang="en-US" sz="11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shortcuts assign fields.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Named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Extra ways to build an object: </a:t>
            </a:r>
            <a:pPr indent="0" marL="0">
              <a:buNone/>
            </a:pPr>
            <a:r>
              <a:rPr lang="en-US" sz="11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User.guest()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Factory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Declared with the </a:t>
            </a:r>
            <a:pPr indent="0" marL="0">
              <a:buNone/>
            </a:pPr>
            <a:r>
              <a:rPr lang="en-US" sz="11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keyword; may return an existing or computed object. Often used for fromJson().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48439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876455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 method called when an object is created is the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constructor is the one typically used for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fromJson()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OOP principles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37700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20580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956572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0036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internal data; expose it through methods and getters.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1680" y="1837700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4560" y="2020580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5728" y="1956572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4560" y="2240036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subclass acquires a parent's members using </a:t>
            </a:r>
            <a:pPr indent="0" marL="0">
              <a:buNone/>
            </a:pPr>
            <a:r>
              <a:rPr lang="en-US" sz="10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59339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42219"/>
            <a:ext cx="109728" cy="109728"/>
          </a:xfrm>
          <a:prstGeom prst="ellipse">
            <a:avLst/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2688" y="2978211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261675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call, different behaviour per class.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4720" y="1837700"/>
            <a:ext cx="5428336" cy="3805809"/>
          </a:xfrm>
          <a:prstGeom prst="roundRect">
            <a:avLst>
              <a:gd name="adj" fmla="val 1442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1892564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 CODE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61024" y="2112020"/>
            <a:ext cx="5135728" cy="3440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speak() =&gt; print('...');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Dog extends Animal {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inheritance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speak() =&gt; print('Woof!');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polymorphism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Account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_balance = 0;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_ = private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get balance =&gt; _balance;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read-only access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deposit(double amt)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(amt &gt; 0) _balance += amt;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encapsulation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 = Dog();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a.speak();      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Woof!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extends vs with vs implements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10172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104934"/>
                <a:gridCol w="41049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parent (is-a)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members of the parent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number of mixins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 methods/fields, no parent-child link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contract (interface)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inherited: you must override every member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322183"/>
            <a:ext cx="5428336" cy="2592324"/>
          </a:xfrm>
          <a:prstGeom prst="roundRect">
            <a:avLst>
              <a:gd name="adj" fmla="val 2116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3377047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AT ONCE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3596503"/>
            <a:ext cx="5135728" cy="2226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mixin Flyer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fly() =&gt; print('Flying...');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 void eat() =&gt; print('Eating');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 Swimmer { void swim();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Duck extends Animal with Flyer implements Swimmer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swim() =&gt; print('Paddling');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4720" y="3322183"/>
            <a:ext cx="5428336" cy="1199134"/>
          </a:xfrm>
          <a:prstGeom prst="roundRect">
            <a:avLst>
              <a:gd name="adj" fmla="val 610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7600" y="3468487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Mixin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97600" y="3742807"/>
            <a:ext cx="5062576" cy="65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Lets a class reuse another class's methods without full multiple inheritance. Added with the </a:t>
            </a:r>
            <a:pPr indent="0" marL="0">
              <a:buNone/>
            </a:pPr>
            <a:r>
              <a:rPr lang="en-US" sz="1150" dirty="0">
                <a:solidFill>
                  <a:srgbClr val="1BB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keyword.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62897"/>
            <a:ext cx="5428336" cy="2765679"/>
          </a:xfrm>
          <a:prstGeom prst="roundRect">
            <a:avLst>
              <a:gd name="adj" fmla="val 1984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917761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· ON · CATCH · FINALLY · THROW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137217"/>
            <a:ext cx="5135728" cy="239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n = int.parse('abc');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may fail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on FormatException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print('Not a number');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specific type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print('Error: $e');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anything else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print('Done');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ALWAYS runs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check(int age)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(age &lt; 0) throw ArgumentError('age &lt; 0');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raise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4720" y="1862897"/>
          <a:ext cx="5428336" cy="914400"/>
        </p:xfrm>
        <a:graphic>
          <a:graphicData uri="http://schemas.openxmlformats.org/drawingml/2006/table">
            <a:tbl>
              <a:tblPr/>
              <a:tblGrid>
                <a:gridCol w="1845634"/>
                <a:gridCol w="35827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risky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one specific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any exception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Cleanup, always runs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an exception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866320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4994336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notes catch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IntegerDivisionByZeroException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</a:t>
            </a:r>
            <a:pPr indent="0" marL="0">
              <a:buNone/>
            </a:pPr>
            <a:r>
              <a:rPr lang="en-US" sz="1150" dirty="0">
                <a:solidFill>
                  <a:srgbClr val="3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~/ 0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That class is deprecated in modern Dart, so a FormatException example is safer to quote.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Future, async &amp; await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67124"/>
            <a:ext cx="5428336" cy="2245614"/>
          </a:xfrm>
          <a:prstGeom prst="roundRect">
            <a:avLst>
              <a:gd name="adj" fmla="val 2443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921988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 8 LINES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141444"/>
            <a:ext cx="5135728" cy="187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Future&lt;String&gt; fetchName() async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Future.delayed(Duration(seconds: 2));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fake wait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'Ali';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async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print('Start');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name = await fetchName();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pauses here only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print('Hello $name');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runs after 2 s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1867124"/>
            <a:ext cx="5428336" cy="1314069"/>
          </a:xfrm>
          <a:prstGeom prst="roundRect">
            <a:avLst>
              <a:gd name="adj" fmla="val 5567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013428"/>
            <a:ext cx="5062576" cy="103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object for a value that will be available later.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Marks a function that may await.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Pauses this function until the Future completes.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350482"/>
            <a:ext cx="2595296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4460210"/>
            <a:ext cx="226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fetchName()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1680" y="4350482"/>
            <a:ext cx="2595296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6272" y="4460210"/>
            <a:ext cx="226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Future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4720" y="4350482"/>
            <a:ext cx="2595296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79312" y="4460210"/>
            <a:ext cx="226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pauses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47759" y="4350482"/>
            <a:ext cx="2595296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2351" y="4460210"/>
            <a:ext cx="226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B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arrives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063714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5191730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only be used inside a function marked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that function must return a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BB3A5"/>
          </a:solidFill>
          <a:ln w="12700">
            <a:solidFill>
              <a:srgbClr val="1BB3A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B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· Dart Basics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is not multithreading: Isolates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7604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104934"/>
                <a:gridCol w="41049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/ await alone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single main/UI thread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separate background thread with its own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Waiting: network, files, timers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CPU work: big loops, parsing, image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maths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freezes the 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stays smooth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to caller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a Future you can await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715649"/>
            <a:ext cx="11094415" cy="1725549"/>
          </a:xfrm>
          <a:prstGeom prst="roundRect">
            <a:avLst>
              <a:gd name="adj" fmla="val 3180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3770513"/>
            <a:ext cx="10801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WAYS: ISOLATE.SPAWN() · ISOLATE.RUN() · COMPUTE()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3989969"/>
            <a:ext cx="10801807" cy="135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heavy(int n) { var t = 0; for (var i = 0; i &lt; n; i++) { t += i; } return t;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Future&lt;void&gt; run() async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a = await Isolate.run(() =&gt; heavy(1000000000));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Dart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b = await compute(heavy, 1000000000);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Flutter helper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Isolate.spawn() creates a brand-new isolate manually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5678942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806958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share memory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they communicate by passing messages. That is the standard one-line definition.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463040"/>
            <a:ext cx="237744" cy="3108960"/>
          </a:xfrm>
          <a:prstGeom prst="roundRect">
            <a:avLst>
              <a:gd name="adj" fmla="val 23077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463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Fundamentals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screen is a widget. Learn how widgets nest, hold state and get configured.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1463040"/>
            <a:ext cx="443484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part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29968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Declarative, reactive UI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and the widget tree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and hot reload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 and setState()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AppBar, Drawer, FAB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Icon, Row, Column, Container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ListView, ListTile, tabs, custom widgets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Flutter's core philosophy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7509"/>
            <a:ext cx="3539642" cy="1045083"/>
          </a:xfrm>
          <a:prstGeom prst="roundRect">
            <a:avLst>
              <a:gd name="adj" fmla="val 700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90389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22638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UI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09845"/>
            <a:ext cx="3173882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describe how the UI should look for the current state, instead of giving step-by-step instructions to change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6026" y="2107509"/>
            <a:ext cx="3539642" cy="1045083"/>
          </a:xfrm>
          <a:prstGeom prst="roundRect">
            <a:avLst>
              <a:gd name="adj" fmla="val 700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8906" y="2290389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0074" y="222638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updates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08906" y="2509845"/>
            <a:ext cx="3173882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state changes, Flutter rebuilds only the affected widgets, not the whole screen.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3413" y="2107509"/>
            <a:ext cx="3539642" cy="1045083"/>
          </a:xfrm>
          <a:prstGeom prst="roundRect">
            <a:avLst>
              <a:gd name="adj" fmla="val 700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6293" y="2290389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87461" y="2226381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React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86293" y="2509845"/>
            <a:ext cx="3173882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reactive programming model gives smooth, efficient UI updates.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90336"/>
            <a:ext cx="11094415" cy="924814"/>
          </a:xfrm>
          <a:prstGeom prst="roundRect">
            <a:avLst>
              <a:gd name="adj" fmla="val 791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36640"/>
            <a:ext cx="10728655" cy="650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to memorise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You build the UI out of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Widgets form a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every element on screen — from layout to styling — is a widget.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52894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680910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uses the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paradigm: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= function of the current state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in one picture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90592"/>
            <a:ext cx="2028688" cy="838708"/>
          </a:xfrm>
          <a:prstGeom prst="roundRect">
            <a:avLst>
              <a:gd name="adj" fmla="val 8722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400320"/>
            <a:ext cx="169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656352"/>
            <a:ext cx="1699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count = 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15072" y="2290592"/>
            <a:ext cx="2028688" cy="838708"/>
          </a:xfrm>
          <a:prstGeom prst="roundRect">
            <a:avLst>
              <a:gd name="adj" fmla="val 8722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79664" y="2400320"/>
            <a:ext cx="169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build()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79664" y="2656352"/>
            <a:ext cx="1699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UI for that state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81504" y="2290592"/>
            <a:ext cx="2028688" cy="838708"/>
          </a:xfrm>
          <a:prstGeom prst="roundRect">
            <a:avLst>
              <a:gd name="adj" fmla="val 8722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46096" y="2400320"/>
            <a:ext cx="169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on screen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46096" y="2656352"/>
            <a:ext cx="1699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Text("3")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47936" y="2290592"/>
            <a:ext cx="2028688" cy="838708"/>
          </a:xfrm>
          <a:prstGeom prst="roundRect">
            <a:avLst>
              <a:gd name="adj" fmla="val 8722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12528" y="2400320"/>
            <a:ext cx="169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taps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12528" y="2656352"/>
            <a:ext cx="1699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happens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14367" y="2290592"/>
            <a:ext cx="2028688" cy="838708"/>
          </a:xfrm>
          <a:prstGeom prst="roundRect">
            <a:avLst>
              <a:gd name="adj" fmla="val 8722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78959" y="2400320"/>
            <a:ext cx="169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setState()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778959" y="2656352"/>
            <a:ext cx="1699504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4 → build() runs again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67044"/>
            <a:ext cx="11094415" cy="1314069"/>
          </a:xfrm>
          <a:prstGeom prst="roundRect">
            <a:avLst>
              <a:gd name="adj" fmla="val 5567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513348"/>
            <a:ext cx="10728655" cy="103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Imperative (old way)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Find the label, then change its text to “4”.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(Flutter)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Change the state to 4 and let build() produce the new UI.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Flutter compares the old and new widget tree and updates only what actually changed.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World in Flutter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00555"/>
            <a:ext cx="5428336" cy="2072259"/>
          </a:xfrm>
          <a:prstGeom prst="roundRect">
            <a:avLst>
              <a:gd name="adj" fmla="val 264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855419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VERSION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074875"/>
            <a:ext cx="5135728" cy="170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'package:flutter/material.dart';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runApp(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Center(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Text('Hello, World!'),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1800555"/>
            <a:ext cx="5428336" cy="2072259"/>
          </a:xfrm>
          <a:prstGeom prst="roundRect">
            <a:avLst>
              <a:gd name="adj" fmla="val 264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61024" y="1855419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REAL DEVICE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361024" y="2074875"/>
            <a:ext cx="5135728" cy="170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'package:flutter/material.dart';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runApp(const MaterialApp(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home: Scaffold(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body: Center(child: Text('Hello, World!')),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10558"/>
            <a:ext cx="11094415" cy="1611884"/>
          </a:xfrm>
          <a:prstGeom prst="roundRect">
            <a:avLst>
              <a:gd name="adj" fmla="val 4538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256862"/>
            <a:ext cx="10728655" cy="133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runApp()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Inflates the given widget and attaches it to the screen; it becomes the root of the widget tree.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Aligns its child in the middle of the available space.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Displays a string of styled text.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MaterialApp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Also supplies the text direction and theme that a bare Text needs in order to render.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widget tree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57578"/>
            <a:ext cx="11094415" cy="1552194"/>
          </a:xfrm>
          <a:prstGeom prst="roundRect">
            <a:avLst>
              <a:gd name="adj" fmla="val 3535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212442"/>
            <a:ext cx="10801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= THE TREE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431898"/>
            <a:ext cx="10801807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Scaffold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appBar:  AppBar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     └── Text('My App')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body:    Center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└── Text('Hello')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947516"/>
            <a:ext cx="11094415" cy="1016254"/>
          </a:xfrm>
          <a:prstGeom prst="roundRect">
            <a:avLst>
              <a:gd name="adj" fmla="val 7198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093820"/>
            <a:ext cx="10728655" cy="741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widgets form the widget tree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Parents contain children; layout, styling and behaviour are all widgets.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walk the tree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When state changes, only the affected branch is rebuilt.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pubspec.yaml: the project's configuration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40622"/>
            <a:ext cx="5428336" cy="3979164"/>
          </a:xfrm>
          <a:prstGeom prst="roundRect">
            <a:avLst>
              <a:gd name="adj" fmla="val 1379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595486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1814942"/>
            <a:ext cx="5135728" cy="361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my_app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A sample Flutter app.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1.0.0+1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sdk: '&gt;=3.0.0 &lt;4.0.0'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flutter: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sdk: flutter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 ^1.2.0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dev_dependencies: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flutter_test: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sdk: flutter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uses-material-design: true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assets/images/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4720" y="1540622"/>
          <a:ext cx="5428336" cy="914400"/>
        </p:xfrm>
        <a:graphic>
          <a:graphicData uri="http://schemas.openxmlformats.org/drawingml/2006/table">
            <a:tbl>
              <a:tblPr/>
              <a:tblGrid>
                <a:gridCol w="1845634"/>
                <a:gridCol w="35827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/ description / 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identity &amp; release 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Dart &amp; Flutter SDK versions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Packages needed at runtime (http, provider)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dev_dependencies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development/testing (flutter_test, lints)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flutter: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design flag, assets, fonts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757530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885546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is the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dependencies, assets and metadata. Indentation matters — it is YAML.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pubspec.lock &amp; flutter pub get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0537"/>
            <a:ext cx="3539642" cy="1234948"/>
          </a:xfrm>
          <a:prstGeom prst="roundRect">
            <a:avLst>
              <a:gd name="adj" fmla="val 592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73417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309409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pubspec.yaml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92873"/>
            <a:ext cx="3173882" cy="70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edit this file. It lists the packages you want and their allowed versions.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6026" y="2190537"/>
            <a:ext cx="3539642" cy="1234948"/>
          </a:xfrm>
          <a:prstGeom prst="roundRect">
            <a:avLst>
              <a:gd name="adj" fmla="val 592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8906" y="2373417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0074" y="2309409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pubspec.lock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08906" y="2592873"/>
            <a:ext cx="3173882" cy="70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Auto-generated. Locks the exact resolved version of every dependency and sub-dependency so builds are reproducible on every machine.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3413" y="2190537"/>
            <a:ext cx="3539642" cy="1234948"/>
          </a:xfrm>
          <a:prstGeom prst="roundRect">
            <a:avLst>
              <a:gd name="adj" fmla="val 592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6293" y="2373417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87461" y="2309409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pub get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86293" y="2592873"/>
            <a:ext cx="3173882" cy="704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that reads pubspec.yaml, downloads the packages and writes/updates pubspec.lock.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663229"/>
            <a:ext cx="3539642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772957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pubspec.yaml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26026" y="3663229"/>
            <a:ext cx="3539642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90618" y="3772957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pub get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03413" y="3663229"/>
            <a:ext cx="3539642" cy="475488"/>
          </a:xfrm>
          <a:prstGeom prst="roundRect">
            <a:avLst>
              <a:gd name="adj" fmla="val 1538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68005" y="3772957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pubspec.lock updated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76461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504477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pubspec.lock by hand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exists so that everyone on the team builds with identical package versions.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reload vs hot restart vs full rebuild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72824"/>
            <a:ext cx="5428336" cy="1767332"/>
          </a:xfrm>
          <a:prstGeom prst="roundRect">
            <a:avLst>
              <a:gd name="adj" fmla="val 4139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19128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reload (r)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93448"/>
            <a:ext cx="5062576" cy="1218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updated Dart code into the already-running Dart VM.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state.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UI tweaks.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4720" y="1672824"/>
            <a:ext cx="5428336" cy="1560957"/>
          </a:xfrm>
          <a:prstGeom prst="roundRect">
            <a:avLst>
              <a:gd name="adj" fmla="val 4686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1819128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restart (R)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397600" y="2093448"/>
            <a:ext cx="5062576" cy="101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main() and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running process.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state or initial setup changed.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7900"/>
            <a:ext cx="11094415" cy="1560957"/>
          </a:xfrm>
          <a:prstGeom prst="roundRect">
            <a:avLst>
              <a:gd name="adj" fmla="val 4686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824204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stop &amp; rebuild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098524"/>
            <a:ext cx="10728655" cy="101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app, then </a:t>
            </a:r>
            <a:pPr indent="0" marL="0">
              <a:buNone/>
            </a:pPr>
            <a:r>
              <a:rPr lang="en-US" sz="1150" dirty="0">
                <a:solidFill>
                  <a:srgbClr val="4F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run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packages with native code and plugins.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after some dependency changes.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476601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5604617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state; hot restart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state;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link a new native plugin.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new package: what do you need?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71258"/>
            <a:ext cx="3539642" cy="838708"/>
          </a:xfrm>
          <a:prstGeom prst="roundRect">
            <a:avLst>
              <a:gd name="adj" fmla="val 8722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180986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Edit pubspec.yaml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437018"/>
            <a:ext cx="321045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e.g. http: ^1.2.0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6026" y="2071258"/>
            <a:ext cx="3539642" cy="838708"/>
          </a:xfrm>
          <a:prstGeom prst="roundRect">
            <a:avLst>
              <a:gd name="adj" fmla="val 8722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0618" y="2180986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flutter pub get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490618" y="2437018"/>
            <a:ext cx="321045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it, updates pubspec.lock and .dart_tool/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03413" y="2071258"/>
            <a:ext cx="3539642" cy="838708"/>
          </a:xfrm>
          <a:prstGeom prst="roundRect">
            <a:avLst>
              <a:gd name="adj" fmla="val 8722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8005" y="2180986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Stop &amp; re-run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68005" y="2437018"/>
            <a:ext cx="3210458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run again (full rebuild)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47710"/>
          <a:ext cx="11094415" cy="914400"/>
        </p:xfrm>
        <a:graphic>
          <a:graphicData uri="http://schemas.openxmlformats.org/drawingml/2006/table">
            <a:tbl>
              <a:tblPr/>
              <a:tblGrid>
                <a:gridCol w="3772101"/>
                <a:gridCol w="7322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Dart package (no native code)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minimum a hot restart (R); a full rebuild is the safer 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with native dependencies / plugin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stop and rebuild. Otherwise even hot restart can fail with a “missing plugin”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48640" y="4423552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4551568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 only injects updated Dart source into a running VM. It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link a newly registered package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its assets or native code.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StatelessWidget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50831"/>
            <a:ext cx="5428336" cy="2072259"/>
          </a:xfrm>
          <a:prstGeom prst="roundRect">
            <a:avLst>
              <a:gd name="adj" fmla="val 264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20569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STATE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425151"/>
            <a:ext cx="5135728" cy="170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Greeting extends StatelessWidget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name;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Greeting({super.key, required this.name});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Text('Hello, $name');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150831"/>
            <a:ext cx="5428336" cy="2024634"/>
          </a:xfrm>
          <a:prstGeom prst="roundRect">
            <a:avLst>
              <a:gd name="adj" fmla="val 361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297135"/>
            <a:ext cx="5062576" cy="175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state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Holds nothing that changes over time.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depends only on its inputs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constructor parameters.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redraw itself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changes only when a parent rebuilds it.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Static labels, icons, logos, layouts.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460834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588850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widget class with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internal/mutable state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StatelessWidget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its only required method is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build()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StatefulWidget &amp; setState()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48647"/>
            <a:ext cx="5428336" cy="3459099"/>
          </a:xfrm>
          <a:prstGeom prst="roundRect">
            <a:avLst>
              <a:gd name="adj" fmla="val 1586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03511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2967"/>
            <a:ext cx="5135728" cy="309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Counter extends StatefulWidget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Counter({super.key});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State&lt;Counter&gt; createState() =&gt; _CounterState();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_CounterState extends State&lt;Counter&gt;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count = 0;      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STATE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ElevatedButton(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onPressed: () =&gt; setState(() =&gt; count++),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Text('Tapped $count times'),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1948647"/>
            <a:ext cx="5428336" cy="2024634"/>
          </a:xfrm>
          <a:prstGeom prst="roundRect">
            <a:avLst>
              <a:gd name="adj" fmla="val 361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094951"/>
            <a:ext cx="5062576" cy="1750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(state)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that can change over time.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Tells Flutter the state changed, so build() runs again and the UI updates instantly.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widget (immutable) and its State object (holds the data).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Counters, checkboxes, forms with live input.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StatelessWidget vs StatefulWidget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32244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104934"/>
                <a:gridCol w="41049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 mutable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 parameters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 + internal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Redraws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redraw itself; only when an external trigger (parent rebuild) occurs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Rebuilds itself when setState() is called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createState(), then build(), setState()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static label, icon, or logo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counter, a checkbox, a form with live 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06458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634474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method that rebuilds a StatefulWidget after its data changes. Calling it outside a State class is an error.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child inside a Stateless parent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39884"/>
            <a:ext cx="5428336" cy="2418969"/>
          </a:xfrm>
          <a:prstGeom prst="roundRect">
            <a:avLst>
              <a:gd name="adj" fmla="val 226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94748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 STATELESS, CHILD: STATEFUL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14204"/>
            <a:ext cx="5135728" cy="205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HomePage extends StatelessWidget {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state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HomePage({super.key});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Scaffold(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appBar: AppBar(title: const Text('Home')),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body: const Center(child: Counter()),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stateful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039884"/>
            <a:ext cx="5428336" cy="1699387"/>
          </a:xfrm>
          <a:prstGeom prst="roundRect">
            <a:avLst>
              <a:gd name="adj" fmla="val 430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186188"/>
            <a:ext cx="5062576" cy="1425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can be stateless while its child is stateful.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rebuilds only the stateful child when its state changes, not the whole subtree.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put the changing part in its own stateful custom widget instead of making the whole page stateful.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696597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824613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state as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 the tree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possible so rebuilds stay small.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widget catalog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08149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104934"/>
                <a:gridCol w="41049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Multi-child widgets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 List&lt;Widget&gt; as children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Row, Column, Stack, ListView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widgets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 to events such as touch or edit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Buttons, TextField, Checkbox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components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MaterialApp for consistent theming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Scaffold, AppBar, FloatingActionButton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20160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048176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components: composition over inheritance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 widgets by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existing widgets rather than deeply extending a base class. For 2D drawing, CustomPaint provides the canvas and a CustomPainter draws shapes with the Canvas API.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app skeleton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39884"/>
            <a:ext cx="5428336" cy="2418969"/>
          </a:xfrm>
          <a:prstGeom prst="roundRect">
            <a:avLst>
              <a:gd name="adj" fmla="val 226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94748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+ APPBAR + DRAWER + FAB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14204"/>
            <a:ext cx="5135728" cy="205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MaterialApp(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home: Scaffold(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appBar: AppBar(title: const Text('My App')),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drawer: const Drawer(child: Text('Menu')),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const Center(child: Text('Body')),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floatingActionButton: FloatingActionButton(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onPressed: () {},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const Icon(Icons.add),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4720" y="2039884"/>
          <a:ext cx="5428336" cy="914400"/>
        </p:xfrm>
        <a:graphic>
          <a:graphicData uri="http://schemas.openxmlformats.org/drawingml/2006/table">
            <a:tbl>
              <a:tblPr/>
              <a:tblGrid>
                <a:gridCol w="1845634"/>
                <a:gridCol w="35827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widget for Material theming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page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title / navigation 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Slide-out side navigation panel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FloatingActionButton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action, bottom-right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696597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4824613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= AppBar + body + Drawer + FAB.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single line answers a very common question.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TextStyle &amp; Icon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6963"/>
            <a:ext cx="5428336" cy="2245614"/>
          </a:xfrm>
          <a:prstGeom prst="roundRect">
            <a:avLst>
              <a:gd name="adj" fmla="val 2443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391827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WIDGETS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611283"/>
            <a:ext cx="5135728" cy="187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'Flutter',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style: TextStyle(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fontSize: 24,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fontWeight: FontWeight.bold,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Colors.blue,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Icon(Icons.home, size: 32, color: Colors.teal)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336963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7600" y="2519843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455835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97600" y="2739299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string on screen.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47759" y="2336963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0639" y="2519843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31807" y="2455835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TextStyle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0639" y="2739299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Font, size, weight and colour of text.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4720" y="3358601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7600" y="3541481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98768" y="3477473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97600" y="3760937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graphical symbol, e.g. menu or home.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&amp; Column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322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104934"/>
                <a:gridCol w="41049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axis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axis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(left → right)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(top → bottom)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149062"/>
            <a:ext cx="5428336" cy="2418969"/>
          </a:xfrm>
          <a:prstGeom prst="roundRect">
            <a:avLst>
              <a:gd name="adj" fmla="val 226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3203926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WITH ALIGNMENT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3423382"/>
            <a:ext cx="5135728" cy="2053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mainAxisAlignment: MainAxisAlignment.center,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crossAxisAlignment: CrossAxisAlignment.start,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Text('Title'),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Row(children: [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Icon(Icons.star),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Text('4.5'),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4720" y="3149062"/>
            <a:ext cx="5428336" cy="2139569"/>
          </a:xfrm>
          <a:prstGeom prst="roundRect">
            <a:avLst>
              <a:gd name="adj" fmla="val 3419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7600" y="3295366"/>
            <a:ext cx="5062576" cy="186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mainAxisAlignment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Spacing along the main direction (start, center, spaceBetween…).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crossAxisAlignment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Alignment across it (start, center, stretch…). Use start to stop centring.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MainAxisSize.min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Stops the widget from taking all the space on its main axis; important when nesting a Column inside a ListTile to avoid “unbounded height” errors.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Container, CircleAvatar &amp; InkWell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59595"/>
            <a:ext cx="5428336" cy="3112389"/>
          </a:xfrm>
          <a:prstGeom prst="roundRect">
            <a:avLst>
              <a:gd name="adj" fmla="val 1763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114459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TAPPABLE PROFILE ROW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33915"/>
            <a:ext cx="5135728" cy="274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InkWell(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onTap: () {},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Container(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padding: const EdgeInsets.all(16),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decoration: BoxDecoration(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color: Colors.blue.shade50,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borderRadius: BorderRadius.circular(12),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child: Row(children: const [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CircleAvatar(radius: 20, child: Icon(Icons.person)),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SizedBox(width: 12),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Text('Ali'),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059595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7600" y="2242475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178467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97600" y="2461931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Padding, fixed size, colour and decoration around a child.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47759" y="2059595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0639" y="2242475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31807" y="2178467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CircleAvatar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0639" y="2461931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(often profile) image.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4720" y="3081233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7600" y="3264113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98768" y="3200105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InkWell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97600" y="3483569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/ tap feedback without ListTile's built-in padding.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Lists: ListView vs ListView.builder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352"/>
            <a:ext cx="3539642" cy="1045083"/>
          </a:xfrm>
          <a:prstGeom prst="roundRect">
            <a:avLst>
              <a:gd name="adj" fmla="val 700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31232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267224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ListView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50688"/>
            <a:ext cx="3173882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Fixed-size, non-lazy list. Builds all of its children at once. Fine for a few items.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6026" y="2148352"/>
            <a:ext cx="3539642" cy="1045083"/>
          </a:xfrm>
          <a:prstGeom prst="roundRect">
            <a:avLst>
              <a:gd name="adj" fmla="val 7000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8906" y="2331232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0074" y="2267224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ListView.builder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08906" y="2550688"/>
            <a:ext cx="3173882" cy="51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items lazily, only when they are about to appear. Ideal for long or infinite lists.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31179"/>
            <a:ext cx="5428336" cy="1552194"/>
          </a:xfrm>
          <a:prstGeom prst="roundRect">
            <a:avLst>
              <a:gd name="adj" fmla="val 3535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" y="3486043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LIST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3705499"/>
            <a:ext cx="5135728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ListView.builder(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itemCount: items.length,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itemBuilder: (context, index)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ListTile(title: Text(items[index]));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4720" y="3431179"/>
            <a:ext cx="5428336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5888" y="3559195"/>
            <a:ext cx="502600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products from an API? Use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only the visible rows are built.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ListTile: a ready-made row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32111"/>
            <a:ext cx="5428336" cy="1725549"/>
          </a:xfrm>
          <a:prstGeom prst="roundRect">
            <a:avLst>
              <a:gd name="adj" fmla="val 3180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28697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506431"/>
            <a:ext cx="5135728" cy="135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ListTile(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leading: Icon(Icons.movie),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Text('Inception'),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subtitle: Text('Sci-fi'),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trailing: Icon(Icons.chevron_right),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isThreeLine: false,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232111"/>
            <a:ext cx="5428336" cy="1818259"/>
          </a:xfrm>
          <a:prstGeom prst="roundRect">
            <a:avLst>
              <a:gd name="adj" fmla="val 4023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378415"/>
            <a:ext cx="5062576" cy="1543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Icon or image on the left.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/ subtitle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Main and secondary text.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Widget on the right, such as an arrow.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isThreeLine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Adjusts icon alignment for multi-line title/subtitle content.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88114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416130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tap feedback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ListTile's padding, use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InkWell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Tabs: DefaultTabController, TabBar, TabBarView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62516"/>
            <a:ext cx="5428336" cy="3285744"/>
          </a:xfrm>
          <a:prstGeom prst="roundRect">
            <a:avLst>
              <a:gd name="adj" fmla="val 1670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817380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036836"/>
            <a:ext cx="5135728" cy="291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DefaultTabController(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length: 3,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Scaffold(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appBar: AppBar(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const Text('Tabs'),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bottom: const TabBar(tabs: [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Tab(text: 'Chats'), Tab(text: 'Status'), Tab(text: 'Calls'),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const TabBarView(children: [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Center(child: Text('Chats')),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Center(child: Text('Status')),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Center(child: Text('Calls')),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4720" y="1762516"/>
          <a:ext cx="5428336" cy="914400"/>
        </p:xfrm>
        <a:graphic>
          <a:graphicData uri="http://schemas.openxmlformats.org/drawingml/2006/table">
            <a:tbl>
              <a:tblPr/>
              <a:tblGrid>
                <a:gridCol w="1845634"/>
                <a:gridCol w="35827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TabBar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of selectable tabs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TabBarView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content shown for each tab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DefaultTabController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tab switching without creating a TabController yourself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Holds/selects the active tab (used manually with TabBar)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286004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5414020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150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length: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 equal the number of Tab widgets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number of children in TabBarView, or the app throws.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· Flutter Fundamentals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widgets &amp; custom painting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59595"/>
            <a:ext cx="5428336" cy="3112389"/>
          </a:xfrm>
          <a:prstGeom prst="roundRect">
            <a:avLst>
              <a:gd name="adj" fmla="val 1763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114459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2D SHAPES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33915"/>
            <a:ext cx="5135728" cy="274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DotPainter extends CustomPainter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paint(Canvas canvas, Size size)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canvas.drawCircle(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size.center(Offset.zero), 40,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Paint()..color = Colors.blue,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shouldRepaint(CustomPainter old) =&gt; false;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CustomPaint(painter: DotPainter(), size: Size(200, 200))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059595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7600" y="2242475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178467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CustomPaint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97600" y="2461931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widget that provides a canvas to draw 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47759" y="2059595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0639" y="2242475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31807" y="2178467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CustomPainter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0639" y="2461931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Canvas API to draw 2D shapes directly.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4720" y="3081233"/>
            <a:ext cx="2595296" cy="855218"/>
          </a:xfrm>
          <a:prstGeom prst="roundRect">
            <a:avLst>
              <a:gd name="adj" fmla="val 855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7600" y="3264113"/>
            <a:ext cx="109728" cy="109728"/>
          </a:xfrm>
          <a:prstGeom prst="ellipse">
            <a:avLst/>
          </a:prstGeom>
          <a:solidFill>
            <a:srgbClr val="4F9BFF"/>
          </a:solidFill>
          <a:ln w="12700">
            <a:solidFill>
              <a:srgbClr val="4F9B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98768" y="3200105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widgets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97600" y="3483569"/>
            <a:ext cx="2229536" cy="324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over inheritance.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463040"/>
            <a:ext cx="237744" cy="3108960"/>
          </a:xfrm>
          <a:prstGeom prst="roundRect">
            <a:avLst>
              <a:gd name="adj" fmla="val 23077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463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&amp; Responsive UI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UI work on every screen size, orientation and container.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1463040"/>
            <a:ext cx="443484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part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29968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MediaQuery: the whole screen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LayoutBuilder: the space I really have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BoxConstraints &amp; OrientationBuilder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Expanded, FittedBox, AspectRatio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Positioned overlays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overflow errors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toolbox: what solves what?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268834"/>
            <a:ext cx="3539642" cy="665353"/>
          </a:xfrm>
          <a:prstGeom prst="roundRect">
            <a:avLst>
              <a:gd name="adj" fmla="val 1099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51714"/>
            <a:ext cx="109728" cy="109728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387706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MediaQuery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71170"/>
            <a:ext cx="3173882" cy="1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the whole device screen?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6026" y="2268834"/>
            <a:ext cx="3539642" cy="665353"/>
          </a:xfrm>
          <a:prstGeom prst="roundRect">
            <a:avLst>
              <a:gd name="adj" fmla="val 1099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8906" y="2451714"/>
            <a:ext cx="109728" cy="109728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0074" y="2387706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LayoutBuilder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08906" y="2671170"/>
            <a:ext cx="3173882" cy="1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space did my parent give me?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3413" y="2268834"/>
            <a:ext cx="3539642" cy="665353"/>
          </a:xfrm>
          <a:prstGeom prst="roundRect">
            <a:avLst>
              <a:gd name="adj" fmla="val 1099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6293" y="2451714"/>
            <a:ext cx="109728" cy="109728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87461" y="2387706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OrientationBuilder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86293" y="2671170"/>
            <a:ext cx="3173882" cy="1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parent wider than tall?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100607"/>
            <a:ext cx="3539642" cy="665353"/>
          </a:xfrm>
          <a:prstGeom prst="roundRect">
            <a:avLst>
              <a:gd name="adj" fmla="val 1099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283487"/>
            <a:ext cx="109728" cy="109728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" y="3219479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502943"/>
            <a:ext cx="3173882" cy="1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leftover space in a Row/Column.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26026" y="3100607"/>
            <a:ext cx="3539642" cy="665353"/>
          </a:xfrm>
          <a:prstGeom prst="roundRect">
            <a:avLst>
              <a:gd name="adj" fmla="val 1099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08906" y="3283487"/>
            <a:ext cx="109728" cy="109728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10074" y="3219479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FittedBox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08906" y="3502943"/>
            <a:ext cx="3173882" cy="1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or scale my child to fit.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03413" y="3100607"/>
            <a:ext cx="3539642" cy="665353"/>
          </a:xfrm>
          <a:prstGeom prst="roundRect">
            <a:avLst>
              <a:gd name="adj" fmla="val 1099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86293" y="3283487"/>
            <a:ext cx="109728" cy="109728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87461" y="3219479"/>
            <a:ext cx="29727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AspectRatio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86293" y="3502943"/>
            <a:ext cx="3173882" cy="1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width : height proportional.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003704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131720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question for the word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(→ MediaQuery),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parent/container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(→ LayoutBuilder), or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space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(→ Expanded).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MediaQuery: “How big is the whole screen?”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30578"/>
            <a:ext cx="11094415" cy="1032129"/>
          </a:xfrm>
          <a:prstGeom prst="roundRect">
            <a:avLst>
              <a:gd name="adj" fmla="val 5316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85442"/>
            <a:ext cx="10801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DEVICE WINDOW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04898"/>
            <a:ext cx="10801807" cy="66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screenWidth = MediaQuery.of(context).size.width;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isPortrait =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MediaQuery.of(context).orientation == Orientation.portrait;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300451"/>
            <a:ext cx="5428336" cy="1933194"/>
          </a:xfrm>
          <a:prstGeom prst="roundRect">
            <a:avLst>
              <a:gd name="adj" fmla="val 378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446755"/>
            <a:ext cx="5062576" cy="165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Information about the entire device window: size, orientation, devicePixelRatio, viewInsets, safe-area insets.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Auto-updates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Widgets that read the data rebuild automatically when it changes.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Root-level decisions: phone vs tablet layout, orientation, padding around notches and status bars.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4720" y="3300451"/>
            <a:ext cx="5428336" cy="930021"/>
          </a:xfrm>
          <a:prstGeom prst="roundRect">
            <a:avLst>
              <a:gd name="adj" fmla="val 5899"/>
            </a:avLst>
          </a:prstGeom>
          <a:solidFill>
            <a:srgbClr val="2B1517"/>
          </a:solidFill>
          <a:ln w="12700">
            <a:solidFill>
              <a:srgbClr val="FF7B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5888" y="3428467"/>
            <a:ext cx="5026000" cy="67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7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trap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MediaQuery always measures the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device screen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the widget's parent. Using it to size something inside a dialog or card is a classic overflow bug.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LayoutBuilder: “How much space do I have?”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95856"/>
            <a:ext cx="11094415" cy="2072259"/>
          </a:xfrm>
          <a:prstGeom prst="roundRect">
            <a:avLst>
              <a:gd name="adj" fmla="val 264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950720"/>
            <a:ext cx="108018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TO THE PARENT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170176"/>
            <a:ext cx="10801807" cy="170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LayoutBuilder(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(context, constraints)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(constraints.maxWidth &lt; 300)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Column(children: [Text('Compact'), Icon(Icons.warning)]);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Row(children: [Text('Full'), Icon(Icons.check)]);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205859"/>
            <a:ext cx="11094415" cy="1314069"/>
          </a:xfrm>
          <a:prstGeom prst="roundRect">
            <a:avLst>
              <a:gd name="adj" fmla="val 5567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352163"/>
            <a:ext cx="10728655" cy="1039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Tells you the exact constraints handed down by the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parent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Cards, dialogs, split views and reusable components that could be placed anywhere.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 locally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reports the real local space, so it prevents RenderFlex overflow even deep inside small containers.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BoxConstraints</a:t>
            </a:r>
            <a:endParaRPr lang="en-US" sz="3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00575"/>
          <a:ext cx="5428336" cy="914400"/>
        </p:xfrm>
        <a:graphic>
          <a:graphicData uri="http://schemas.openxmlformats.org/drawingml/2006/table">
            <a:tbl>
              <a:tblPr/>
              <a:tblGrid>
                <a:gridCol w="1845634"/>
                <a:gridCol w="358270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allowed width of the 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allowed width of the 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minHeight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allowed height of the 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maxHeight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allowed height of the widget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214720" y="2200575"/>
            <a:ext cx="5428336" cy="1552194"/>
          </a:xfrm>
          <a:prstGeom prst="roundRect">
            <a:avLst>
              <a:gd name="adj" fmla="val 3535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61024" y="2255439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LAYOUT CONVERSATION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361024" y="2474895"/>
            <a:ext cx="5135728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 ──constraints──&gt;  Child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  ──── size ─────&gt;  Parent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 ─── position ──&gt;  Child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LayoutBuilder hands you the constraints object: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constraints.maxWidth, constraints.maxHeight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4148755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4276771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passes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down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child picks a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within them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LayoutBuilder hands you those constraints as a BoxConstraints object.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MediaQuery vs LayoutBuilder</a:t>
            </a:r>
            <a:endParaRPr lang="en-US" sz="3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5101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4104934"/>
                <a:gridCol w="41049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LayoutBuilder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parent's BoxConstraints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device screen /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overflow inside a smaller container?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components, cards, lists, modals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navigation, orientation, global theming, safe-area padding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of thumb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“Local” layout decisions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“Global” screen-level decisions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473011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601027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something inside a small container?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LayoutBuilder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Choosing phone vs tablet layout?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MediaQuery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the modal overflow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29292"/>
            <a:ext cx="5428336" cy="1725549"/>
          </a:xfrm>
          <a:prstGeom prst="roundRect">
            <a:avLst>
              <a:gd name="adj" fmla="val 3180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184156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403612"/>
            <a:ext cx="5135728" cy="135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MediaQuery says 400 px ...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┌──────────────────────────────┐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modal = 250 px (real space)  │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┌──────────────────────────┐ │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 Row sized for 400 px     │ │──&gt; spills out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└──────────────────────────┘ │    RenderFlex overflow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└──────────────────────────────┘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129292"/>
            <a:ext cx="5428336" cy="2139569"/>
          </a:xfrm>
          <a:prstGeom prst="roundRect">
            <a:avLst>
              <a:gd name="adj" fmla="val 3419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275596"/>
            <a:ext cx="5062576" cy="186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Yellow-and-black stripes / RenderFlex error, but fine full-screen.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Children sized from MediaQuery (400 px) while the modal only offers 250 px.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pPr indent="0" marL="0"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 LayoutBuilder and read </a:t>
            </a:r>
            <a:pPr indent="0" marL="0">
              <a:buNone/>
            </a:pPr>
            <a:r>
              <a:rPr lang="en-US" sz="1150" dirty="0">
                <a:solidFill>
                  <a:srgbClr val="9B7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constraints.maxWidth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(250 px); switch Row → Column only when there truly is not enough room.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06605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634621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inside a small modal →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LayoutBuilder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MediaQuery.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OrientationBuilder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04634"/>
            <a:ext cx="5428336" cy="2072259"/>
          </a:xfrm>
          <a:prstGeom prst="roundRect">
            <a:avLst>
              <a:gd name="adj" fmla="val 264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959498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COLUMNS BY ORIENTATION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178954"/>
            <a:ext cx="5135728" cy="170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OrientationBuilder(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(context, orientation)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GridView.count(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crossAxisCount: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orientation == Orientation.portrait ? 2 : 4,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children: items,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1904634"/>
            <a:ext cx="2595296" cy="665353"/>
          </a:xfrm>
          <a:prstGeom prst="roundRect">
            <a:avLst>
              <a:gd name="adj" fmla="val 1099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7600" y="2087514"/>
            <a:ext cx="109728" cy="109728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2023506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Portrait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97600" y="2306970"/>
            <a:ext cx="2229536" cy="1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than wide → 2 columns.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047759" y="1904634"/>
            <a:ext cx="2595296" cy="665353"/>
          </a:xfrm>
          <a:prstGeom prst="roundRect">
            <a:avLst>
              <a:gd name="adj" fmla="val 1099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30639" y="2087514"/>
            <a:ext cx="109728" cy="109728"/>
          </a:xfrm>
          <a:prstGeom prst="ellipse">
            <a:avLst/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31807" y="2023506"/>
            <a:ext cx="202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30639" y="2306970"/>
            <a:ext cx="2229536" cy="135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than tall → 4 columns.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14637"/>
            <a:ext cx="11094415" cy="1286637"/>
          </a:xfrm>
          <a:prstGeom prst="roundRect">
            <a:avLst>
              <a:gd name="adj" fmla="val 5686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60941"/>
            <a:ext cx="10728655" cy="101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LayoutBuilder but reports Orientation.portrait or Orientation.landscape.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reflects the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widget's shape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is distinct from the device's physical orientation.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change internal arrangements without caring about exact pixel values.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Expanded: fill the leftover space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84791"/>
            <a:ext cx="5428336" cy="2072259"/>
          </a:xfrm>
          <a:prstGeom prst="roundRect">
            <a:avLst>
              <a:gd name="adj" fmla="val 2648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13965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+ FLEX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59111"/>
            <a:ext cx="5135728" cy="170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Icon(Icons.star),          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7186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fixed, laid out first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Expanded(flex: 2,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Text('2 parts of leftover')),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Expanded(flex: 1,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Text('1 part')),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084791"/>
            <a:ext cx="5428336" cy="1933194"/>
          </a:xfrm>
          <a:prstGeom prst="roundRect">
            <a:avLst>
              <a:gd name="adj" fmla="val 378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231095"/>
            <a:ext cx="5062576" cy="165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 direct child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 a Row, Column or Flex; it cannot stand alone.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share of space relative to other Expanded siblings (default 1).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Inflexible (non-Expanded) children are laid out first; Expanded children then share what is left.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394794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522810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widget that forces its child to fill the remaining space is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Leftover space split 2 : 1 comes after the fixed Icon takes its size.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FittedBox &amp; AspectRatio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90141"/>
            <a:ext cx="5428336" cy="1205484"/>
          </a:xfrm>
          <a:prstGeom prst="roundRect">
            <a:avLst>
              <a:gd name="adj" fmla="val 4551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04500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FITTEDBOX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64461"/>
            <a:ext cx="5135728" cy="83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FittedBox(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fit: BoxFit.scaleDown,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Text('A very long title that shrinks'),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1990141"/>
            <a:ext cx="5428336" cy="1205484"/>
          </a:xfrm>
          <a:prstGeom prst="roundRect">
            <a:avLst>
              <a:gd name="adj" fmla="val 4551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61024" y="2045005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ASPECTRATIO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361024" y="2264461"/>
            <a:ext cx="5135728" cy="83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AspectRatio(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aspectRatio: 16 / 9,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Container(color: Colors.black),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433369"/>
            <a:ext cx="5428336" cy="1131189"/>
          </a:xfrm>
          <a:prstGeom prst="roundRect">
            <a:avLst>
              <a:gd name="adj" fmla="val 6467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79673"/>
            <a:ext cx="5062576" cy="85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FittedBox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Scales and positions its single child to fit the space it is given, according to a BoxFit (contain, cover, fill, scaleDown…). Like CSS object-fit.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4720" y="3433369"/>
            <a:ext cx="5428336" cy="1131189"/>
          </a:xfrm>
          <a:prstGeom prst="roundRect">
            <a:avLst>
              <a:gd name="adj" fmla="val 6467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7600" y="3579673"/>
            <a:ext cx="5062576" cy="85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AspectRatio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Sizes its child to a fixed width : height ratio (e.g. 16/9) instead of pixel values. Great for images, video and banners.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02302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10281F"/>
          </a:solidFill>
          <a:ln w="12700">
            <a:solidFill>
              <a:srgbClr val="3FBF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930318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B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FittedBox scales its child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it does not change the child's layout logic.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&amp; Positioned overlays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95358"/>
            <a:ext cx="5428336" cy="2245614"/>
          </a:xfrm>
          <a:prstGeom prst="roundRect">
            <a:avLst>
              <a:gd name="adj" fmla="val 2443"/>
            </a:avLst>
          </a:prstGeom>
          <a:solidFill>
            <a:srgbClr val="060C17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2150222"/>
            <a:ext cx="513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UI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369678"/>
            <a:ext cx="5135728" cy="187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Image.asset('assets/cover.jpg'),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Positioned(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bottom: 12,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right: 12,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Text('LIVE'),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8E3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4720" y="2095358"/>
            <a:ext cx="5428336" cy="1933194"/>
          </a:xfrm>
          <a:prstGeom prst="roundRect">
            <a:avLst>
              <a:gd name="adj" fmla="val 378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2241662"/>
            <a:ext cx="5062576" cy="165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Places children on top of one another; the first child is at the back.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Pins a child to given edges. It must be a direct child of a Stack.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Badges, play buttons over thumbnails, gradient captions over images.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78716"/>
            <a:ext cx="11094415" cy="517271"/>
          </a:xfrm>
          <a:prstGeom prst="roundRect">
            <a:avLst>
              <a:gd name="adj" fmla="val 10606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706732"/>
            <a:ext cx="10692079" cy="26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Column arrange widgets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other;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layers them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of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other.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9B7BFF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· Layout &amp; Responsive UI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overflow errors</a:t>
            </a:r>
            <a:endParaRPr lang="en-US" sz="3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32244"/>
          <a:ext cx="11094415" cy="914400"/>
        </p:xfrm>
        <a:graphic>
          <a:graphicData uri="http://schemas.openxmlformats.org/drawingml/2006/table">
            <a:tbl>
              <a:tblPr/>
              <a:tblGrid>
                <a:gridCol w="3772101"/>
                <a:gridCol w="7322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Row/Column too wide or tall (yellow-black stripes)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the flexible child in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or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text pushing a Row 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B7B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overflow: TextOverflow.ellipsis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or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FittedBox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taller than the screen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in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SingleChildScrollView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or use a </a:t>
                      </a:r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 covers a 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Scrollable body; check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B7B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MediaQuery.of(context).viewInsets.bottom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breaks only inside a card or modal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LayoutBuilder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and read the real constraints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06458"/>
            <a:ext cx="11094415" cy="723646"/>
          </a:xfrm>
          <a:prstGeom prst="roundRect">
            <a:avLst>
              <a:gd name="adj" fmla="val 75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4634474"/>
            <a:ext cx="10692079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  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name to quote is </a:t>
            </a:r>
            <a:pPr indent="0" marL="0">
              <a:buNone/>
            </a:pPr>
            <a:r>
              <a:rPr lang="en-US" sz="1250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RenderFlex overflow</a:t>
            </a:r>
            <a:pPr indent="0" marL="0">
              <a:buNone/>
            </a:pPr>
            <a:r>
              <a:rPr lang="en-US" sz="1250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it always means a Row/Column child asked for more space than the parent allows.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463040"/>
            <a:ext cx="237744" cy="3108960"/>
          </a:xfrm>
          <a:prstGeom prst="roundRect">
            <a:avLst>
              <a:gd name="adj" fmla="val 23077"/>
            </a:avLst>
          </a:prstGeom>
          <a:solidFill>
            <a:srgbClr val="E8AE4E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463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288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drills &amp; cheat sheet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any question to reveal the answer. Cover the screen and say it out loud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223760" y="1463040"/>
            <a:ext cx="443484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part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29968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questions examiners repeat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answers in one line each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Traps that cost easy marks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cheat sheet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AE4E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Recall drills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Rapid-fire: Dart</a:t>
            </a:r>
            <a:endParaRPr lang="en-US" sz="3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425"/>
          <a:ext cx="11094415" cy="914400"/>
        </p:xfrm>
        <a:graphic>
          <a:graphicData uri="http://schemas.openxmlformats.org/drawingml/2006/table">
            <a:tbl>
              <a:tblPr/>
              <a:tblGrid>
                <a:gridCol w="4659654"/>
                <a:gridCol w="643476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function starts every Dart program?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main() — the top-level entry point.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created Dart, and when was it unveiled?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Lars Bak and Kasper Lund at Google; unveiled 10 October 2011, version 1.0 in November 2013.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compilation does hot reload rely on?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JIT (Just-In-Time). Release builds use AOT.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between final and const?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is set once at runtime; const must be known at compile time.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?? do?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a default value when the left side is null.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operator does integer division?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~/ — 7 ~/ 2 gives 3.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the Dart feature that embeds values in a string.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interpolation, using $variable or ${expression}.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loop always runs at least once?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do-while.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 factory constructor typically used for?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Returning an existing or computed object — commonly fromJson().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vs implements?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inherits the members of exactly one parent; implements is a contract where you must override every member.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 mixin added with?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with keyword.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block always runs in exception handling?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finally.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 Future?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object representing a value that will be available later.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isolates share memory?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each has its own memory and they communicate by passing messages.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AE4E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Recall drills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Rapid-fire: Flutter</a:t>
            </a:r>
            <a:endParaRPr lang="en-US" sz="30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60068"/>
          <a:ext cx="11094415" cy="914400"/>
        </p:xfrm>
        <a:graphic>
          <a:graphicData uri="http://schemas.openxmlformats.org/drawingml/2006/table">
            <a:tbl>
              <a:tblPr/>
              <a:tblGrid>
                <a:gridCol w="4659654"/>
                <a:gridCol w="643476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core building block of a Flutter UI?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widget. Everything on screen is a widget, and widgets form a tree.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paradigm does Flutter use?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Declarative: UI = function of the current state.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runApp() do?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Inflates the given widget and attaches it as the root of the widget tree.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widget class has no mutable state?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StatelessWidget.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method rebuilds a StatefulWidget?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setState().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two classes does a StatefulWidget need?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widget itself plus its State class, created by createState().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Scaffold gives you which four things?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AppBar, body, Drawer and FloatingActionButton.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pubspec.yaml for?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project manifest: dependencies, assets, fonts and metadata.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pubspec.lock?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auto-generated file locking the exact resolved package versions for reproducible builds.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reload vs hot restart?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reload injects code and keeps state; hot restart re-runs main() and resets state.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added a plugin with native code — what is required?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full stop and rebuild (flutter run again); hot reload and hot restart cannot link it.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items from an API — which list widget?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ListView.builder, because it builds items lazily.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widget manages tab switching for you?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DefaultTabController.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class draws 2D shapes on a canvas?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8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CustomPainter, used through the CustomPaint widget.</a:t>
                      </a:r>
                      <a:endParaRPr lang="en-US" sz="97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AE4E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Recall drills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Rapid-fire: layout &amp; responsive UI</a:t>
            </a:r>
            <a:endParaRPr lang="en-US" sz="3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86870"/>
          <a:ext cx="11094415" cy="914400"/>
        </p:xfrm>
        <a:graphic>
          <a:graphicData uri="http://schemas.openxmlformats.org/drawingml/2006/table">
            <a:tbl>
              <a:tblPr/>
              <a:tblGrid>
                <a:gridCol w="4659654"/>
                <a:gridCol w="643476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widget reports the whole device screen size?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MediaQuery.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reports the constraints from the immediate parent?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LayoutBuilder.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card overflows only inside a modal — what do you use?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LayoutBuilder, because MediaQuery measures the full screen, not the modal.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object holds minWidth, maxWidth, minHeight, maxHeight?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BoxConstraints.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widget fills the leftover space in a Row or Column?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flex control?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share of leftover space relative to other Expanded siblings.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widget scales its child to fit the space given?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FittedBox.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keeps a fixed width-to-height ratio?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AspectRatio.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widget layers children on top of each other?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Stack, with Positioned for exact placement.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reports portrait vs landscape of the parent?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OrientationBuilder.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the overflow error Flutter throws.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RenderFlex overflow.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taller than the screen — quickest fix?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it in SingleChildScrollView, or use a ListView.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AE4E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Recall drills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Traps that cost easy marks</a:t>
            </a:r>
            <a:endParaRPr lang="en-US" sz="3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77923"/>
          <a:ext cx="11094415" cy="914400"/>
        </p:xfrm>
        <a:graphic>
          <a:graphicData uri="http://schemas.openxmlformats.org/drawingml/2006/table">
            <a:tbl>
              <a:tblPr/>
              <a:tblGrid>
                <a:gridCol w="3772101"/>
                <a:gridCol w="732231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actually 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4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“Hot reload updates everything.”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cannot link a new native plugin or newly registered assets — that needs a full rebuild.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“const and final are the same.”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 is compile-time; final is runtime.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AE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 DateTime.now()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is an error.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“async makes code multithreaded.”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async/await still runs on the single main thread. Only an Isolate uses another thread.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“MediaQuery gives me my widget's size.”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gives the whole device window. Use LayoutBuilder for local space.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“Expanded works anywhere.”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as a direct child of Row, Column or Flex.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“StatelessWidget can redraw itself.”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redraws only when a parent rebuilds it.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“Use setState anywhere.”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inside a State class; calling it during build or after dispose throws.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1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“ListView is fine for 500 rows.”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C3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ListView builds every child at once; use ListView.builder.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t">
                    <a:lnL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AE4E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Recall drills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cheat sheet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8958"/>
            <a:ext cx="5428336" cy="2498947"/>
          </a:xfrm>
          <a:prstGeom prst="roundRect">
            <a:avLst>
              <a:gd name="adj" fmla="val 2927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35262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3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</a:t>
            </a:r>
            <a:endParaRPr lang="en-US" sz="1063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09582"/>
            <a:ext cx="5062576" cy="1950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63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pPr indent="0" marL="0"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 · </a:t>
            </a:r>
            <a:pPr indent="0" marL="0">
              <a:buNone/>
            </a:pPr>
            <a:r>
              <a:rPr lang="en-US" sz="1063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pPr indent="0" marL="0"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runtime-once · </a:t>
            </a:r>
            <a:pPr indent="0" marL="0">
              <a:buNone/>
            </a:pPr>
            <a:r>
              <a:rPr lang="en-US" sz="1063" b="1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pPr indent="0" marL="0">
              <a:spcAft>
                <a:spcPts val="500"/>
              </a:spcAft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compile-time</a:t>
            </a:r>
            <a:endParaRPr lang="en-US" sz="1063" dirty="0"/>
          </a:p>
          <a:p>
            <a:pPr marL="342900" indent="-342900">
              <a:buSzPct val="100000"/>
              <a:buChar char="•"/>
            </a:pPr>
            <a:r>
              <a:rPr lang="en-US" sz="963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</a:t>
            </a:r>
            <a:pPr indent="0" marL="0"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default · </a:t>
            </a:r>
            <a:pPr indent="0" marL="0">
              <a:buNone/>
            </a:pPr>
            <a:r>
              <a:rPr lang="en-US" sz="963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pPr indent="0" marL="0"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 call · </a:t>
            </a:r>
            <a:pPr indent="0" marL="0">
              <a:buNone/>
            </a:pPr>
            <a:r>
              <a:rPr lang="en-US" sz="963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??=</a:t>
            </a:r>
            <a:pPr indent="0" marL="0"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assign if null · </a:t>
            </a:r>
            <a:pPr indent="0" marL="0">
              <a:buNone/>
            </a:pPr>
            <a:r>
              <a:rPr lang="en-US" sz="963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spcAft>
                <a:spcPts val="500"/>
              </a:spcAft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assert not null</a:t>
            </a:r>
            <a:endParaRPr lang="en-US" sz="1063" dirty="0"/>
          </a:p>
          <a:p>
            <a:pPr marL="342900" indent="-342900">
              <a:buSzPct val="100000"/>
              <a:buChar char="•"/>
            </a:pPr>
            <a:r>
              <a:rPr lang="en-US" sz="963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</a:t>
            </a:r>
            <a:pPr indent="0" marL="0"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integer division · </a:t>
            </a:r>
            <a:pPr indent="0" marL="0">
              <a:buNone/>
            </a:pPr>
            <a:r>
              <a:rPr lang="en-US" sz="963" dirty="0">
                <a:solidFill>
                  <a:srgbClr val="E8A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${}</a:t>
            </a:r>
            <a:pPr indent="0" marL="0">
              <a:spcAft>
                <a:spcPts val="500"/>
              </a:spcAft>
              <a:buNone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interpolation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encapsulation, inheritance, polymorphism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(one parent) · with (mixin) · implements (contract)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on / catch / finally / throw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+ async + await = waiting · Isolate = heavy CPU</a:t>
            </a:r>
            <a:endParaRPr lang="en-US" sz="1063" dirty="0"/>
          </a:p>
        </p:txBody>
      </p:sp>
      <p:sp>
        <p:nvSpPr>
          <p:cNvPr id="8" name="Shape 6"/>
          <p:cNvSpPr/>
          <p:nvPr/>
        </p:nvSpPr>
        <p:spPr>
          <a:xfrm>
            <a:off x="6214720" y="1488958"/>
            <a:ext cx="5428336" cy="2674366"/>
          </a:xfrm>
          <a:prstGeom prst="roundRect">
            <a:avLst>
              <a:gd name="adj" fmla="val 2735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97600" y="1635262"/>
            <a:ext cx="506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3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1063" dirty="0"/>
          </a:p>
        </p:txBody>
      </p:sp>
      <p:sp>
        <p:nvSpPr>
          <p:cNvPr id="10" name="Text 8"/>
          <p:cNvSpPr txBox="1"/>
          <p:nvPr/>
        </p:nvSpPr>
        <p:spPr>
          <a:xfrm>
            <a:off x="6397600" y="1909582"/>
            <a:ext cx="5062576" cy="2125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 widget; widgets form a tree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= no state · Stateful + setState() = state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= AppBar + body + Drawer + FAB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you edit · pubspec.lock is generated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reload keeps state · hot restart resets it · plugins need a rebuild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ListView.builder for long lists · ListTile for rows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DefaultTabController + TabBar + TabBarView</a:t>
            </a:r>
            <a:endParaRPr lang="en-US" sz="1063" dirty="0"/>
          </a:p>
        </p:txBody>
      </p:sp>
      <p:sp>
        <p:nvSpPr>
          <p:cNvPr id="11" name="Shape 9"/>
          <p:cNvSpPr/>
          <p:nvPr/>
        </p:nvSpPr>
        <p:spPr>
          <a:xfrm>
            <a:off x="548640" y="4401068"/>
            <a:ext cx="11094415" cy="1983518"/>
          </a:xfrm>
          <a:prstGeom prst="roundRect">
            <a:avLst>
              <a:gd name="adj" fmla="val 3688"/>
            </a:avLst>
          </a:prstGeom>
          <a:solidFill>
            <a:srgbClr val="16233A"/>
          </a:solidFill>
          <a:ln w="9525">
            <a:solidFill>
              <a:srgbClr val="2737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4737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3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layout</a:t>
            </a:r>
            <a:endParaRPr lang="en-US" sz="1063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21692"/>
            <a:ext cx="10728655" cy="1434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MediaQuery = whole screen (global) · LayoutBuilder = parent constraints (local)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BoxConstraints: minWidth, maxWidth, minHeight, maxHeight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fills leftover space; flex sets the share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FittedBox scales to fit · AspectRatio keeps width : height · Stack layers</a:t>
            </a:r>
            <a:endParaRPr lang="en-US" sz="1063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63" dirty="0">
                <a:solidFill>
                  <a:srgbClr val="B3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RenderFlex overflow = a child asked for more space than the parent allows</a:t>
            </a:r>
            <a:endParaRPr lang="en-US" sz="1063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AE4E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420624"/>
            <a:ext cx="10783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· Recall drills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1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cheat sheet  (cont.)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899938"/>
            <a:ext cx="11094415" cy="486315"/>
          </a:xfrm>
          <a:prstGeom prst="roundRect">
            <a:avLst>
              <a:gd name="adj" fmla="val 11282"/>
            </a:avLst>
          </a:prstGeom>
          <a:solidFill>
            <a:srgbClr val="2A2313"/>
          </a:solidFill>
          <a:ln w="12700">
            <a:solidFill>
              <a:srgbClr val="E8AE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3027954"/>
            <a:ext cx="10692079" cy="230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3" b="1" dirty="0">
                <a:solidFill>
                  <a:srgbClr val="E8A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pass before the exam  </a:t>
            </a:r>
            <a:pPr indent="0" marL="0">
              <a:buNone/>
            </a:pPr>
            <a:r>
              <a:rPr lang="en-US" sz="1063" dirty="0">
                <a:solidFill>
                  <a:srgbClr val="F1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through the three rapid-fire slides once more. If you can answer every card without opening it, you are ready.</a:t>
            </a:r>
            <a:endParaRPr lang="en-US" sz="1063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3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&amp; Flutter — exam revision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Dart &amp; Flutter — Exam Revision Deck</dc:title>
  <dc:subject>PptxGenJS Presentation</dc:subject>
  <dc:creator>Dart &amp; Flutter exam deck</dc:creator>
  <cp:lastModifiedBy>Dart &amp; Flutter exam deck</cp:lastModifiedBy>
  <cp:revision>1</cp:revision>
  <dcterms:created xsi:type="dcterms:W3CDTF">2026-09-19T16:11:05Z</dcterms:created>
  <dcterms:modified xsi:type="dcterms:W3CDTF">2026-09-19T16:11:05Z</dcterms:modified>
</cp:coreProperties>
</file>